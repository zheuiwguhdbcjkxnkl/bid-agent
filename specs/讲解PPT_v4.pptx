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pn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image" Target="../media/image6.png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3" Type="http://schemas.openxmlformats.org/officeDocument/2006/relationships/image" Target="../media/image5.png"/><Relationship Id="rId12" Type="http://schemas.openxmlformats.org/officeDocument/2006/relationships/tags" Target="../tags/tag42.xml"/><Relationship Id="rId11" Type="http://schemas.openxmlformats.org/officeDocument/2006/relationships/image" Target="../media/image6.png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image" Target="../media/image8.png"/><Relationship Id="rId5" Type="http://schemas.openxmlformats.org/officeDocument/2006/relationships/tags" Target="../tags/tag45.xml"/><Relationship Id="rId4" Type="http://schemas.openxmlformats.org/officeDocument/2006/relationships/image" Target="../media/image7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10.png"/><Relationship Id="rId2" Type="http://schemas.openxmlformats.org/officeDocument/2006/relationships/tags" Target="../tags/tag64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1.png"/><Relationship Id="rId4" Type="http://schemas.openxmlformats.org/officeDocument/2006/relationships/tags" Target="../tags/tag77.xml"/><Relationship Id="rId3" Type="http://schemas.openxmlformats.org/officeDocument/2006/relationships/image" Target="../media/image11.png"/><Relationship Id="rId2" Type="http://schemas.openxmlformats.org/officeDocument/2006/relationships/tags" Target="../tags/tag76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image" Target="../media/image2.png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png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image" Target="../media/image14.png"/><Relationship Id="rId2" Type="http://schemas.openxmlformats.org/officeDocument/2006/relationships/tags" Target="../tags/tag113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15.png"/><Relationship Id="rId2" Type="http://schemas.openxmlformats.org/officeDocument/2006/relationships/tags" Target="../tags/tag12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36.xml"/><Relationship Id="rId7" Type="http://schemas.openxmlformats.org/officeDocument/2006/relationships/image" Target="../media/image16.png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1365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6"/>
                </p:custDataLst>
              </p:nvPr>
            </p:nvPicPr>
            <p:blipFill rotWithShape="1">
              <a:blip r:embed="rId7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3"/>
            </p:custDataLst>
          </p:nvPr>
        </p:nvSpPr>
        <p:spPr>
          <a:xfrm>
            <a:off x="2216669" y="3503943"/>
            <a:ext cx="7758661" cy="491464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4"/>
            </p:custDataLst>
          </p:nvPr>
        </p:nvSpPr>
        <p:spPr>
          <a:xfrm>
            <a:off x="2216352" y="2292076"/>
            <a:ext cx="7758661" cy="115090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 userDrawn="1">
            <p:ph type="body" sz="quarter" idx="13" hasCustomPrompt="1"/>
            <p:custDataLst>
              <p:tags r:id="rId15"/>
            </p:custDataLst>
          </p:nvPr>
        </p:nvSpPr>
        <p:spPr>
          <a:xfrm>
            <a:off x="4510804" y="4490858"/>
            <a:ext cx="1383021" cy="474701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4" hasCustomPrompt="1"/>
            <p:custDataLst>
              <p:tags r:id="rId16"/>
            </p:custDataLst>
          </p:nvPr>
        </p:nvSpPr>
        <p:spPr>
          <a:xfrm>
            <a:off x="6095682" y="4490858"/>
            <a:ext cx="1383020" cy="474701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47" y="952648"/>
            <a:ext cx="10851672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12191365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5560"/>
            <a:ext cx="12191365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251213" y="2681574"/>
            <a:ext cx="3576863" cy="716471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251213" y="3459951"/>
            <a:ext cx="3576864" cy="544268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552" y="952648"/>
            <a:ext cx="5282967" cy="5388626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-16509" y="5971592"/>
            <a:ext cx="3478446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155" y="5905492"/>
            <a:ext cx="3480925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895" y="952518"/>
            <a:ext cx="5282967" cy="38098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890" y="1406654"/>
            <a:ext cx="5282925" cy="493449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952518"/>
            <a:ext cx="5282967" cy="38098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406654"/>
            <a:ext cx="5282967" cy="493449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155" y="5905492"/>
            <a:ext cx="3480925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6509" y="5971592"/>
            <a:ext cx="3478446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0" y="-15482"/>
            <a:ext cx="3649153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 userDrawn="1">
            <p:custDataLst>
              <p:tags r:id="rId7"/>
            </p:custDataLst>
          </p:nvPr>
        </p:nvGrpSpPr>
        <p:grpSpPr>
          <a:xfrm rot="10800000">
            <a:off x="8542212" y="15483"/>
            <a:ext cx="3649153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47" y="443242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角 13"/>
          <p:cNvSpPr/>
          <p:nvPr userDrawn="1">
            <p:custDataLst>
              <p:tags r:id="rId14"/>
            </p:custDataLst>
          </p:nvPr>
        </p:nvSpPr>
        <p:spPr>
          <a:xfrm>
            <a:off x="5637871" y="1484174"/>
            <a:ext cx="914352" cy="4762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95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600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568" y="5327780"/>
            <a:ext cx="3959795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5400000">
            <a:off x="-3378786" y="2809647"/>
            <a:ext cx="6858002" cy="1238706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0584" y="952648"/>
            <a:ext cx="950934" cy="5388626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890" y="952640"/>
            <a:ext cx="9827589" cy="5388626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568" y="5327780"/>
            <a:ext cx="3959795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1365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895" y="952648"/>
            <a:ext cx="10851672" cy="5388626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77281"/>
            <a:ext cx="12191365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5560"/>
            <a:ext cx="12191365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125476" y="2421812"/>
            <a:ext cx="5940413" cy="133656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0" y="-3"/>
            <a:ext cx="12191365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4632461" y="4417900"/>
            <a:ext cx="1302033" cy="485260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13"/>
            </p:custDataLst>
          </p:nvPr>
        </p:nvSpPr>
        <p:spPr>
          <a:xfrm>
            <a:off x="6256872" y="4417900"/>
            <a:ext cx="1302034" cy="485260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2"/>
            <a:ext cx="10851672" cy="441941"/>
          </a:xfrm>
        </p:spPr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86370" y="273050"/>
            <a:ext cx="11615450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533" y="1249219"/>
            <a:ext cx="9625899" cy="723562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046" y="2163690"/>
            <a:ext cx="9626099" cy="3445021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235" y="4933229"/>
            <a:ext cx="4829583" cy="16516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209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170" y="770423"/>
            <a:ext cx="3959794" cy="881954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769" y="1764107"/>
            <a:ext cx="3956194" cy="409298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0934" y="770070"/>
            <a:ext cx="6479663" cy="5087672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568" y="5327780"/>
            <a:ext cx="3959795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1968" y="781216"/>
            <a:ext cx="10975828" cy="626367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1968" y="1659622"/>
            <a:ext cx="10975403" cy="827957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43" y="2808089"/>
            <a:ext cx="10965029" cy="3430621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568" y="5327780"/>
            <a:ext cx="3959795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" y="0"/>
            <a:ext cx="12191365" cy="1975485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0" y="5041901"/>
            <a:ext cx="1219136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768" y="669615"/>
            <a:ext cx="10975828" cy="565171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05" y="1681284"/>
            <a:ext cx="10990227" cy="3211033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3969" y="5180426"/>
            <a:ext cx="11001027" cy="101154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242387"/>
            <a:ext cx="12191365" cy="1231226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1365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570" y="237612"/>
            <a:ext cx="11037025" cy="441941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570" y="1663275"/>
            <a:ext cx="5342122" cy="2894249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075" y="1663275"/>
            <a:ext cx="5367320" cy="2894249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370" y="4816820"/>
            <a:ext cx="5342122" cy="781159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2874" y="4813220"/>
            <a:ext cx="5367320" cy="781159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353"/>
            <a:ext cx="12191365" cy="49392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>
            <a:off x="8428643" y="4917259"/>
            <a:ext cx="3762721" cy="981866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10800000" flipH="1">
            <a:off x="0" y="398"/>
            <a:ext cx="4713359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522721" y="1339262"/>
            <a:ext cx="9143524" cy="2386676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334" y="3862843"/>
            <a:ext cx="9143524" cy="1655914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9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47" y="443386"/>
            <a:ext cx="10851672" cy="441941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47" y="952637"/>
            <a:ext cx="10851672" cy="538862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696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5786" y="6349681"/>
            <a:ext cx="3959794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152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image" Target="../media/image12.png"/><Relationship Id="rId1" Type="http://schemas.openxmlformats.org/officeDocument/2006/relationships/tags" Target="../tags/tag15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image" Target="../media/image12.png"/><Relationship Id="rId1" Type="http://schemas.openxmlformats.org/officeDocument/2006/relationships/tags" Target="../tags/tag15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image" Target="../media/image12.png"/><Relationship Id="rId1" Type="http://schemas.openxmlformats.org/officeDocument/2006/relationships/tags" Target="../tags/tag15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image" Target="../media/image12.png"/><Relationship Id="rId1" Type="http://schemas.openxmlformats.org/officeDocument/2006/relationships/tags" Target="../tags/tag15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image" Target="../media/image12.png"/><Relationship Id="rId1" Type="http://schemas.openxmlformats.org/officeDocument/2006/relationships/tags" Target="../tags/tag16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image" Target="../media/image12.png"/><Relationship Id="rId1" Type="http://schemas.openxmlformats.org/officeDocument/2006/relationships/tags" Target="../tags/tag16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9.xml"/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tags" Target="../tags/tag16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image" Target="../media/image12.png"/><Relationship Id="rId1" Type="http://schemas.openxmlformats.org/officeDocument/2006/relationships/tags" Target="../tags/tag17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image" Target="../media/image12.png"/><Relationship Id="rId1" Type="http://schemas.openxmlformats.org/officeDocument/2006/relationships/tags" Target="../tags/tag17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image" Target="../media/image12.png"/><Relationship Id="rId1" Type="http://schemas.openxmlformats.org/officeDocument/2006/relationships/tags" Target="../tags/tag17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image" Target="../media/image12.png"/><Relationship Id="rId1" Type="http://schemas.openxmlformats.org/officeDocument/2006/relationships/tags" Target="../tags/tag17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83.xml"/><Relationship Id="rId2" Type="http://schemas.openxmlformats.org/officeDocument/2006/relationships/image" Target="../media/image12.png"/><Relationship Id="rId1" Type="http://schemas.openxmlformats.org/officeDocument/2006/relationships/tags" Target="../tags/tag1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967664" y="1468144"/>
            <a:ext cx="2256037" cy="921972"/>
          </a:xfrm>
          <a:prstGeom prst="rect">
            <a:avLst/>
          </a:prstGeom>
          <a:noFill/>
        </p:spPr>
        <p:txBody>
          <a:bodyPr wrap="square" rtlCol="0">
            <a:normAutofit fontScale="90000"/>
            <a:scene3d>
              <a:camera prst="orthographicFront"/>
              <a:lightRig rig="threePt" dir="t"/>
            </a:scene3d>
          </a:bodyPr>
          <a:p>
            <a:pPr algn="dist" defTabSz="914400"/>
            <a:r>
              <a:rPr lang="zh-CN" altLang="en-US" sz="540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标书通</a:t>
            </a:r>
            <a:endParaRPr lang="zh-CN" altLang="en-US" sz="540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副标题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505017" y="3503767"/>
            <a:ext cx="5181330" cy="4915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1"/>
                </a:solidFill>
              </a:rPr>
              <a:t>竞品：标猪侠、标</a:t>
            </a:r>
            <a:r>
              <a:rPr lang="zh-CN" altLang="en-US" dirty="0">
                <a:solidFill>
                  <a:schemeClr val="accent1"/>
                </a:solidFill>
              </a:rPr>
              <a:t>探长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216150" y="2292046"/>
            <a:ext cx="7759065" cy="115096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 fontScale="50000"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6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6000">
                <a:solidFill>
                  <a:schemeClr val="accent1"/>
                </a:solidFill>
              </a:rPr>
              <a:t>投标文件智能编制与合规审核
多智能体平台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187065" y="4384675"/>
            <a:ext cx="5817870" cy="474980"/>
          </a:xfrm>
          <a:prstGeom prst="rect">
            <a:avLst/>
          </a:prstGeom>
          <a:solidFill>
            <a:schemeClr val="accent1"/>
          </a:solidFill>
        </p:spPr>
        <p:txBody>
          <a:bodyPr vert="horz" lIns="90000" tIns="46800" rIns="90000" bIns="46800" rtlCol="0" anchor="ctr">
            <a:normAutofit/>
          </a:bodyPr>
          <a:lstStyle>
            <a:lvl1pPr mar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sz="1000">
                <a:solidFill>
                  <a:schemeClr val="lt1"/>
                </a:solidFill>
              </a:rPr>
              <a:t>面试讲解 ｜ 我负责：Agent 编排 / Skill / MCP / 记忆 / 上下文 / 评估 / 版本管理</a:t>
            </a:r>
            <a:endParaRPr sz="1000">
              <a:solidFill>
                <a:schemeClr val="lt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一、版本规划：V1 做深 · V2 做广 · V3 做厚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V1（当前）：单项目完整闭环 —— 从输入项目编号到内部提交留痕，场景做窄、核心做深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V2：多场景与团队协同 —— 更多标书类型、数据源、协同、客户版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V3：投标质量运营与平台化 —— 把数据变成质量评估和模型回测能力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里程碑：M1 项目文件 → M2 要求证据 → M3 标书生成 → M4 审核返工 → M5 交接版本 → M6 评估验收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二、其他功能：V1 明确不做什么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✗ 通用 BPMN 工作流引擎　✗ 自动定时监控公告　✗ 在线 Office 多人编辑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✗ 自动外部递交、CA 签章　✗ 自动最优报价引擎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✗ Skill 市场、动态安装　✗ 大规模跨项目分析、中标归因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边界哲学：收敛场景广度和自动化复杂度，不降低正确性、权限、版本、审计、拒答、阻断、可追溯的质量底线。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三、项目功能：贴着业务痛点做，才有用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355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一句话：读招标文件 → 抽要求 → 配证据 → 写标书 → 审合规 → 内部交接留痕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业务痛点（真实存在）→ 系统给的功能：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反复读招标文件、逐条对要求　　　→　</a:t>
            </a:r>
            <a:r>
              <a:rPr lang="zh-CN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自动搜索招标文件</a:t>
            </a:r>
            <a:r>
              <a:rPr lang="en-US" altLang="zh-CN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人工兜底</a:t>
            </a:r>
            <a:r>
              <a:rPr lang="en-US" altLang="zh-CN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自动解析 + 要求抽取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数据口径不统一、Excel 反复对　　→　报价规则校验 + 单一数据源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写完才发现承诺无依据（合规暴露偏后）→　Agent 预检 + 引用校验 + 风险中心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版本、分发记录不清　　　　　　　→　交接基线 + 哈希 + 审计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同类项目重复劳动　　　　　　　　→　历史参考池 + 差异说明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核心价值：把「反复读文件、对要求、查证据、改格式」的标准化劳动交给 AI，人只做判断和拍板。</a:t>
            </a:r>
            <a:r>
              <a:rPr lang="zh-CN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能把标书编写时间从</a:t>
            </a:r>
            <a:r>
              <a:rPr lang="en-US" altLang="zh-CN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</a:t>
            </a:r>
            <a:r>
              <a:rPr lang="zh-CN" altLang="en-US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天缩短到</a:t>
            </a:r>
            <a:r>
              <a:rPr lang="en-US" altLang="zh-CN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4-6</a:t>
            </a:r>
            <a:r>
              <a:rPr lang="zh-CN" altLang="en-US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个小时，返工率可以下降六成左右，提高</a:t>
            </a:r>
            <a:r>
              <a:rPr lang="en-US" altLang="zh-CN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</a:t>
            </a:r>
            <a:r>
              <a:rPr lang="zh-CN" altLang="en-US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中标率</a:t>
            </a:r>
            <a:endParaRPr lang="zh-CN" altLang="en-US"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四、前后端整体流程（简单带过）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2846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 → 反向代理 → Next.js 前端 / FastAPI 后端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FastAPI：领域服务、权限、状态机、LangGraph 工作流、Celery 任务发布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Celery Worker：文件解析、OCR、Embedding、Agent 运行、DOCX/PDF 导出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PostgreSQL + pgvector（业务事实源）｜ Redis（任务队列）｜ MinIO（文件存储）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部署：单机一台服务器 + Docker Compose 一键拉起，公网只有一个入口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8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我负责：Celery Worker 里的 Agent 运行 + MCP Server；前后端、解析、报价、图表由团队共建</a:t>
            </a:r>
            <a:endParaRPr sz="18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五、Skill：4 个业务能力包，1:1 绑定 Agent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3353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招标文件理解 → 招标理解与合规 Agent → 抽要求/评分项/时间节点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响应规划与证据匹配 → 响应规划与评分 Agent → 生成响应矩阵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带引用标书编制 → 标书编制 Agent → 按矩阵生成章节草稿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质量与风险复核 → 质量与风险复核 Agent → 预检 + 风险分级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en-US"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manifest</a:t>
            </a: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业务目标 + Prompt + 输入输出 Schema + 业务规则 + 引用/拒答要求 + 工具白名单 + 失败策略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评估（触发率 = 业务环节完成质量）：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高风险要求召回 100% ｜ 响应矩阵映射 ≥95% ｜ 无证据拒答 ≥98% ｜ 阻断风险召回 100%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六、MCP 工具：1 Server · 4 域 · 14 方法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330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document.*　：ingest / read / render / export（🔒仅交接任务）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project.*　：get_context / validate_inputs / validate_transition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knowledge.*：search / read_sources / validate_citations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business.* ：validate_structure / validate_quote / check_consistency / evaluate_gate（🔒Supervisor+交接）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 vs 专属：14 个方法全是「公共工具」，领用权由 Skill 白名单决定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· 12 个多 Skill 共用（如 knowledge.search 被理解/规划/编制 3 个 Skill 共用）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· 2 个专属领用（document.export、business.evaluate_gate —— 导出与门禁，专业 Agent 碰不了）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双保险：Skill 白名单声明 + MCP Server 二次校验（凭证→白名单→项目权限→版本有效性）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七、A2A（一）：5 个智能体 + 结构化通信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2" descr="投标Agent编排架构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234440"/>
            <a:ext cx="10058400" cy="6118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个逻辑 Agent：1 Supervisor + 4 专业 ｜ 只传结构化引用，不传文件正文 ｜ A2A 管交接，MCP 管干活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八、A2A（二）：一次投标任务里的通信接力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4369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用户发起/恢复任务 → 加载校验（权限/版本/输入哈希）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Supervisor 路由决策（输出结构化决策，如 DISPATCH_AGENT）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A2A 派发 → 招标理解与合规 Agent：收「任务+文件版本引用」→ 回传 RequirementSet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Supervisor 判断 → 【人工关口① 要求基线确认】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A2A 派发 → 响应规划与评分 Agent：收「要求基线+证据范围」→ 回传响应矩阵+证据匹配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【人工关口② 响应计划确认】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 A2A 派发 → 标书编制 Agent：收「响应矩阵+报价版本」→ 回传章节草稿（带引用）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⑧ 【人工关口③ 章节草稿确认】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⑨ A2A 派发 → 质量与风险复核 Agent：收「章节版本」→ 回传问题清单+风险分级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⑩ 【人工关口④ 审核结论确认】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⑪ 确定性交接任务：门禁校验（business.evaluate_gate）→ 冻结交接基线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⑫ 导出交接包（document.export）→ 递交登记 → 全程审计留痕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通信三规矩：只传结构化引用 ｜ 回传结构化产物引用 ｜ 绑定 workflow_run_id 全链路可追溯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九、数据流：一条线走完（输入 → 输出）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输入：项目编号 + 招标文件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↓ 解析 → 结构化「片段」（带页码、原文位置）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↓ 抽取 → 资格条件、实质性要求、评分项（可回溯原文）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↓ 匹配 → 要求 ↔ 证据 ↔ 历史参考（响应矩阵成形）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↓ 编制 → 按矩阵写章节（每段带引用，有依据才敢写）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↓ 审核 → 问题清单 + 风险分级（阻断/高/中/低）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↓ 冻结 → 交接基线锁版本（旧版本标失效，从不覆盖）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↓ 导出 → DOCX/PDF + 文件哈希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输出：递交登记 + 全程审计记录（谁在什么时候做了什么，可查）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三个要点：① Agent 输入输出都是结构化格式，过 Schema 校验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② 高风险结论必须定位到原文片段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5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③ 所有输出过校验才入库 ——「有依据才敢写」是数据流的灵魂</a:t>
            </a:r>
            <a:endParaRPr sz="15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十、评估（一）：四层金字塔，分层准入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单模块评估　→ 9 个模块独立评估（解析、抽取、检索、生成、审核…各自达标）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业务链路　　→ 5 条子链路（项目→解析、要求→依据、报价→章节、初稿→返工、变更→递交）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端到端　　　→ 五类项目样本全流程闭环 → 交付验收、试点就绪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 试点价值　　→ 真实旁路 vs 人工基线 → 扩大使用决策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三原则：① 分层准入（上游不过不进下游）② 零容忍优先（不能高分抵消）③ 两级阈值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7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金句：L1 能用 → L2 能跑 → L3 能交 → L4 值得，四层都过才敢上线。</a:t>
            </a:r>
            <a:endParaRPr sz="17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1064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十一、评估（二）：每一步怎么评估（业务环节 × 指标）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731520" y="1325880"/>
            <a:ext cx="10698480" cy="327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数据接入　｜ 自动获取成功率 ≥90%；人工上传兜底 100%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文档解析　｜ 正文识别 ≥97%；表格还原 ≥92%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要求抽取　｜ 普通要求召回 ≥95%；高风险要求召回 100%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证据检索　｜ Recall@10 ≥90%；无证据拒答正确率 ≥98%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章节生成　｜ 普通要求覆盖率 ≥95%；有证据事实支持率 ≥98%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风险审核　｜ 阻断风险召回 100%；中低风险召回 ≥90%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交接递交　｜ 版本失效、状态转换、哈希、审计 100% 正确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效率指标　｜ 人工时间变化率、退回轮次、人工接管率（对比人工基线）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endParaRPr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Aft>
                <a:spcPts val="600"/>
              </a:spcAft>
            </a:pPr>
            <a:r>
              <a:rPr sz="1600" b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零容忍：高风险要求 100% ｜ 阻断风险 100% ｜ 交接/审计 100%</a:t>
            </a:r>
            <a:endParaRPr sz="1600" b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1365" cy="13152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2011680"/>
            <a:ext cx="103327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sz="4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业务是根，Agent 是干，评估是果</a:t>
            </a:r>
            <a:endParaRPr sz="4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个 Skill 对应 4 个业务环节 ｜ 14 个 MCP 方法守住导出与门禁底线 ｜ 记忆让每句话有据可查 ｜ 四层评估让每步有数字</a:t>
            </a:r>
            <a:endParaRPr sz="2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145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2601_1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46.xml><?xml version="1.0" encoding="utf-8"?>
<p:tagLst xmlns:p="http://schemas.openxmlformats.org/presentationml/2006/main">
  <p:tag name="KSO_WM_UNIT_ISCONTENTSTITLE" val="0"/>
  <p:tag name="KSO_WM_UNIT_PRESET_TEXT" val="单击此处添加副标题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601_1*b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NUMDGMTITLE" val="0"/>
  <p:tag name="KSO_WM_UNIT_TEXT_FILL_FORE_SCHEMECOLOR_INDEX_BRIGHTNESS" val="0"/>
  <p:tag name="KSO_WM_UNIT_TEXT_FILL_FORE_SCHEMECOLOR_INDEX" val="5"/>
  <p:tag name="KSO_WM_UNIT_TEXT_FILL_TYPE" val="1"/>
</p:tagLst>
</file>

<file path=ppt/tags/tag147.xml><?xml version="1.0" encoding="utf-8"?>
<p:tagLst xmlns:p="http://schemas.openxmlformats.org/presentationml/2006/main">
  <p:tag name="KSO_WM_UNIT_ISCONTENTSTITLE" val="0"/>
  <p:tag name="KSO_WM_UNIT_PRESET_TEXT" val="简约工作汇报模板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1_1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NUMDGMTITLE" val="0"/>
  <p:tag name="KSO_WM_UNIT_TEXT_FILL_FORE_SCHEMECOLOR_INDEX_BRIGHTNESS" val="0"/>
  <p:tag name="KSO_WM_UNIT_TEXT_FILL_FORE_SCHEMECOLOR_INDEX" val="5"/>
  <p:tag name="KSO_WM_UNIT_TEXT_FILL_TYPE" val="1"/>
</p:tagLst>
</file>

<file path=ppt/tags/tag148.xml><?xml version="1.0" encoding="utf-8"?>
<p:tagLst xmlns:p="http://schemas.openxmlformats.org/presentationml/2006/main">
  <p:tag name="KSO_WM_UNIT_ISCONTENTSTITLE" val="0"/>
  <p:tag name="KSO_WM_UNIT_PRESET_TEXT" val="汇报人姓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2601_1*f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SUBTYPE" val="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49.xml><?xml version="1.0" encoding="utf-8"?>
<p:tagLst xmlns:p="http://schemas.openxmlformats.org/presentationml/2006/main">
  <p:tag name="KSO_WM_SLIDE_ID" val="custom20202601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01"/>
  <p:tag name="KSO_WM_SLIDE_LAYOUT" val="a_b_f"/>
  <p:tag name="KSO_WM_SLIDE_LAYOUT_CNT" val="1_1_2"/>
  <p:tag name="KSO_WM_TEMPLATE_THUMBS_INDEX" val="1、4、7、8、9、10、11、13、14、15"/>
  <p:tag name="KSO_WM_TEMPLATE_MASTER_THUMB_INDEX" val="1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1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4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7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69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2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5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1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83.xml><?xml version="1.0" encoding="utf-8"?>
<p:tagLst xmlns:p="http://schemas.openxmlformats.org/presentationml/2006/main">
  <p:tag name="KSO_WM_SLIDE_BACKGROUND_TYPE" val="general"/>
  <p:tag name="KSO_WM_SLIDE_BK_DARK_LIGHT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3575</Words>
  <Application>WPS 演示</Application>
  <PresentationFormat>On-screen Show 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汉仪旗黑-85S</vt:lpstr>
      <vt:lpstr>黑体</vt:lpstr>
      <vt:lpstr>Viner Hand ITC</vt:lpstr>
      <vt:lpstr>Mongolian Baiti</vt:lpstr>
      <vt:lpstr>汉仪铸字卡酷体简</vt:lpstr>
      <vt:lpstr>Office Theme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勿扰ください</cp:lastModifiedBy>
  <cp:revision>7</cp:revision>
  <dcterms:created xsi:type="dcterms:W3CDTF">2013-01-27T09:14:00Z</dcterms:created>
  <dcterms:modified xsi:type="dcterms:W3CDTF">2026-08-21T03:19:46Z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DBAB4AB1DB5143199010052D3D46A414_12</vt:lpwstr>
  </property>
</Properties>
</file>